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6" r:id="rId2"/>
    <p:sldId id="258" r:id="rId3"/>
    <p:sldId id="267" r:id="rId4"/>
    <p:sldId id="260" r:id="rId5"/>
    <p:sldId id="262" r:id="rId6"/>
    <p:sldId id="263" r:id="rId7"/>
    <p:sldId id="269" r:id="rId8"/>
    <p:sldId id="264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RegexTokenizer</c:v>
          </c:tx>
          <c:spPr>
            <a:solidFill>
              <a:srgbClr val="DCE4E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27 MB</c:v>
                </c:pt>
                <c:pt idx="1">
                  <c:v>208 MB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511</c:v>
                </c:pt>
                <c:pt idx="1">
                  <c:v>4211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A26-4F40-886A-9183CF709590}"/>
            </c:ext>
          </c:extLst>
        </c:ser>
        <c:ser>
          <c:idx val="1"/>
          <c:order val="1"/>
          <c:tx>
            <c:v>SimpleTokenizer</c:v>
          </c:tx>
          <c:spPr>
            <a:solidFill>
              <a:srgbClr val="196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27 MB</c:v>
                </c:pt>
                <c:pt idx="1">
                  <c:v>208 MB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286</c:v>
                </c:pt>
                <c:pt idx="1">
                  <c:v>2408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A26-4F40-886A-9183CF7095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CE4EC"/>
            </a:solidFill>
          </a:ln>
        </c:spPr>
        <c:txPr>
          <a:bodyPr anchorCtr="1"/>
          <a:lstStyle/>
          <a:p>
            <a:pPr>
              <a:defRPr sz="120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CE4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중앙값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(</a:t>
                </a:r>
                <a:r>
                  <a:rPr lang="en-US" sz="1200" dirty="0" err="1">
                    <a:latin typeface="Malgun Gothic"/>
                    <a:ea typeface="Malgun Gothic"/>
                    <a:cs typeface="Malgun Gothic"/>
                  </a:rPr>
                  <a:t>ms</a:t>
                </a:r>
                <a:r>
                  <a:rPr lang="en-US" sz="1200" dirty="0">
                    <a:latin typeface="Malgun Gothic"/>
                    <a:ea typeface="Malgun Gothic"/>
                    <a:cs typeface="Malgun Gothic"/>
                  </a:rPr>
                  <a:t>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2708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27.3MB</c:v>
          </c:tx>
          <c:spPr>
            <a:ln w="28575">
              <a:solidFill>
                <a:srgbClr val="37B5C8"/>
              </a:solidFill>
            </a:ln>
          </c:spPr>
          <c:marker>
            <c:symbol val="circle"/>
            <c:size val="8"/>
            <c:spPr>
              <a:solidFill>
                <a:srgbClr val="37B5C8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1.66</c:v>
                </c:pt>
                <c:pt idx="2">
                  <c:v>2.23</c:v>
                </c:pt>
                <c:pt idx="3">
                  <c:v>3.05</c:v>
                </c:pt>
                <c:pt idx="4">
                  <c:v>3.26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12-440F-A2BA-DB3B2BCF2E52}"/>
            </c:ext>
          </c:extLst>
        </c:ser>
        <c:ser>
          <c:idx val="1"/>
          <c:order val="1"/>
          <c:tx>
            <c:v>208MB</c:v>
          </c:tx>
          <c:spPr>
            <a:ln w="38100">
              <a:solidFill>
                <a:srgbClr val="1967D2"/>
              </a:solidFill>
            </a:ln>
          </c:spPr>
          <c:marker>
            <c:symbol val="circle"/>
            <c:size val="9"/>
            <c:spPr>
              <a:solidFill>
                <a:srgbClr val="1967D2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52238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</c:v>
                </c:pt>
                <c:pt idx="1">
                  <c:v>1.91</c:v>
                </c:pt>
                <c:pt idx="2">
                  <c:v>3.17</c:v>
                </c:pt>
                <c:pt idx="3">
                  <c:v>4.79</c:v>
                </c:pt>
                <c:pt idx="4">
                  <c:v>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12-440F-A2BA-DB3B2BCF2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>
                    <a:latin typeface="Malgun Gothic"/>
                    <a:ea typeface="Malgun Gothic"/>
                    <a:cs typeface="Malgun Gothic"/>
                  </a:rPr>
                  <a:t>스레드 수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CE4EC"/>
            </a:solidFill>
          </a:ln>
        </c:spPr>
        <c:txPr>
          <a:bodyPr anchorCtr="1"/>
          <a:lstStyle/>
          <a:p>
            <a:pPr>
              <a:defRPr sz="1125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.5"/>
          <c:min val="0"/>
        </c:scaling>
        <c:delete val="0"/>
        <c:axPos val="l"/>
        <c:majorGridlines>
          <c:spPr>
            <a:ln w="9525">
              <a:solidFill>
                <a:srgbClr val="DCE4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속도 향상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(</a:t>
                </a:r>
                <a:r>
                  <a:rPr lang="ko-KR" altLang="en-US" sz="1200" dirty="0">
                    <a:latin typeface="Malgun Gothic"/>
                    <a:ea typeface="Malgun Gothic"/>
                    <a:cs typeface="Malgun Gothic"/>
                  </a:rPr>
                  <a:t>배</a:t>
                </a:r>
                <a:r>
                  <a:rPr lang="en-US" altLang="ko-KR" sz="1200" dirty="0">
                    <a:latin typeface="Malgun Gothic"/>
                    <a:ea typeface="Malgun Gothic"/>
                    <a:cs typeface="Malgun Gothic"/>
                  </a:rPr>
                  <a:t>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627083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27F29-4675-413E-A43E-E05C93DC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6A42B-E992-B4B3-5A28-CDF1ECC41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7B85E-2CB2-5457-F37E-09C01577A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1EB3-BD64-DA23-D7A0-1015387AF7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108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086C-7CB1-6880-69C0-7D48806C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AE3F-889C-9B84-682D-7D2BE98C8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8D458-71D0-3330-8032-65BDFA8F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B8078-7E75-CA36-B652-A923750EFE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729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45B6-D4A6-5FC5-066A-A3D29830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49500-98E6-9531-85DF-99CE7CAA0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B0565-D242-C4EA-4808-3A7A3D4E7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F90A0-94E1-7AE6-8734-6C29002087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468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79B2-A01C-1573-DDEA-F6047173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7C757-30BF-6000-8751-C98CF5162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9CF87-EC7F-BD11-F118-DF8496009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147C-E9C4-94BA-71F0-C0E753C831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597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058A-8C4D-CDAD-AF4F-86B797EA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3759FC-3BC4-202C-A97B-147E497CD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A8AB98-C422-E600-37EE-8C5F3CC5EF9F}"/>
              </a:ext>
            </a:extLst>
          </p:cNvPr>
          <p:cNvSpPr>
            <a:spLocks noGrp="1"/>
          </p:cNvSpPr>
          <p:nvPr/>
        </p:nvSpPr>
        <p:spPr>
          <a:xfrm>
            <a:off x="704849" y="1156158"/>
            <a:ext cx="9023613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Word-Counter:</a:t>
            </a:r>
          </a:p>
          <a:p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다양한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문서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형식에서</a:t>
            </a:r>
            <a:r>
              <a:rPr lang="en-US"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</a:t>
            </a:r>
            <a:r>
              <a:rPr sz="5400" b="1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5400" b="1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endParaRPr sz="5400" b="1" dirty="0">
              <a:solidFill>
                <a:sysClr val="windowText" lastClr="000000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7C36F9-622B-3A0B-C92D-C6E15B989E16}"/>
              </a:ext>
            </a:extLst>
          </p:cNvPr>
          <p:cNvSpPr>
            <a:spLocks noGrp="1"/>
          </p:cNvSpPr>
          <p:nvPr/>
        </p:nvSpPr>
        <p:spPr>
          <a:xfrm>
            <a:off x="704849" y="3445498"/>
            <a:ext cx="4979514" cy="55834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D8E7F8"/>
                </a:solidFill>
                <a:latin typeface="Malgun Gothic"/>
                <a:ea typeface="Malgun Gothic"/>
                <a:cs typeface="Malgun Gothic"/>
              </a:defRPr>
            </a:pP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분석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·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</a:t>
            </a:r>
            <a:r>
              <a:rPr sz="3200" b="0" dirty="0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3200" b="0" dirty="0" err="1">
                <a:solidFill>
                  <a:sysClr val="windowText" lastClr="00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개선</a:t>
            </a:r>
            <a:endParaRPr sz="3200" b="0" dirty="0">
              <a:solidFill>
                <a:sysClr val="windowText" lastClr="000000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5A76A-DC77-F6F5-9602-A0FB3C807ECA}"/>
              </a:ext>
            </a:extLst>
          </p:cNvPr>
          <p:cNvSpPr txBox="1"/>
          <p:nvPr/>
        </p:nvSpPr>
        <p:spPr>
          <a:xfrm>
            <a:off x="8126901" y="5005632"/>
            <a:ext cx="32031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발표자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</a:t>
            </a:r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박상호</a:t>
            </a:r>
            <a:endParaRPr lang="en-US" altLang="ko-KR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발표일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2026-10-01</a:t>
            </a:r>
            <a:endParaRPr lang="ko-KR" alt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59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0205C4E-E810-4962-A176-7B94B1FFE705}"/>
              </a:ext>
            </a:extLst>
          </p:cNvPr>
          <p:cNvSpPr>
            <a:spLocks noGrp="1"/>
          </p:cNvSpPr>
          <p:nvPr/>
        </p:nvSpPr>
        <p:spPr>
          <a:xfrm flipV="1">
            <a:off x="2143125" y="3093721"/>
            <a:ext cx="7924800" cy="45719"/>
          </a:xfrm>
          <a:prstGeom prst="rect">
            <a:avLst/>
          </a:prstGeom>
          <a:solidFill>
            <a:srgbClr val="DCE4EC"/>
          </a:solidFill>
          <a:ln w="0">
            <a:noFill/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2C3653-2851-401A-B17F-5ABFAFB42D12}"/>
              </a:ext>
            </a:extLst>
          </p:cNvPr>
          <p:cNvSpPr>
            <a:spLocks noGrp="1"/>
          </p:cNvSpPr>
          <p:nvPr/>
        </p:nvSpPr>
        <p:spPr>
          <a:xfrm>
            <a:off x="627697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AAA2F5D-DB03-0737-3629-651D3A575BD0}"/>
              </a:ext>
            </a:extLst>
          </p:cNvPr>
          <p:cNvSpPr>
            <a:spLocks noGrp="1"/>
          </p:cNvSpPr>
          <p:nvPr/>
        </p:nvSpPr>
        <p:spPr>
          <a:xfrm>
            <a:off x="57150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B5A5CB5-1E48-2D81-EB16-85BB6F375B40}"/>
              </a:ext>
            </a:extLst>
          </p:cNvPr>
          <p:cNvSpPr>
            <a:spLocks noGrp="1"/>
          </p:cNvSpPr>
          <p:nvPr/>
        </p:nvSpPr>
        <p:spPr>
          <a:xfrm>
            <a:off x="249555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4717F4F-C337-33C7-854E-60637B1AFD85}"/>
              </a:ext>
            </a:extLst>
          </p:cNvPr>
          <p:cNvSpPr>
            <a:spLocks noGrp="1"/>
          </p:cNvSpPr>
          <p:nvPr/>
        </p:nvSpPr>
        <p:spPr>
          <a:xfrm>
            <a:off x="439102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1B81032-BD4A-996F-0043-59C5F35159F2}"/>
              </a:ext>
            </a:extLst>
          </p:cNvPr>
          <p:cNvSpPr>
            <a:spLocks noGrp="1"/>
          </p:cNvSpPr>
          <p:nvPr/>
        </p:nvSpPr>
        <p:spPr>
          <a:xfrm>
            <a:off x="8172450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4182A55-1F48-455B-7722-2380A79770F0}"/>
              </a:ext>
            </a:extLst>
          </p:cNvPr>
          <p:cNvSpPr>
            <a:spLocks noGrp="1"/>
          </p:cNvSpPr>
          <p:nvPr/>
        </p:nvSpPr>
        <p:spPr>
          <a:xfrm>
            <a:off x="10067925" y="2012031"/>
            <a:ext cx="1562100" cy="2374232"/>
          </a:xfrm>
          <a:prstGeom prst="roundRect">
            <a:avLst>
              <a:gd name="adj" fmla="val 4878"/>
            </a:avLst>
          </a:prstGeom>
          <a:solidFill>
            <a:srgbClr val="EAF2FB"/>
          </a:solidFill>
          <a:ln w="9525">
            <a:solidFill>
              <a:srgbClr val="5AA7FF"/>
            </a:solidFill>
          </a:ln>
        </p:spPr>
        <p:txBody>
          <a:bodyPr/>
          <a:lstStyle/>
          <a:p>
            <a:endParaRPr lang="ko-KR" altLang="en-US" sz="200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D230556-FF07-40D5-8F2A-C597AE2834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82C432-F26B-430C-91EA-067F6892AE94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 흐름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71D88D-75D2-4EF7-BE38-C52084845DEA}"/>
              </a:ext>
            </a:extLst>
          </p:cNvPr>
          <p:cNvSpPr>
            <a:spLocks noGrp="1"/>
          </p:cNvSpPr>
          <p:nvPr/>
        </p:nvSpPr>
        <p:spPr>
          <a:xfrm>
            <a:off x="72390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E42153-5640-4F17-8406-0018C0417AF2}"/>
              </a:ext>
            </a:extLst>
          </p:cNvPr>
          <p:cNvSpPr>
            <a:spLocks noGrp="1"/>
          </p:cNvSpPr>
          <p:nvPr/>
        </p:nvSpPr>
        <p:spPr>
          <a:xfrm>
            <a:off x="714375" y="2571385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입력</a:t>
            </a:r>
            <a:r>
              <a:rPr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경로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확인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5B1D3-6920-48EF-8AD9-B399A6AAF021}"/>
              </a:ext>
            </a:extLst>
          </p:cNvPr>
          <p:cNvSpPr>
            <a:spLocks noGrp="1"/>
          </p:cNvSpPr>
          <p:nvPr/>
        </p:nvSpPr>
        <p:spPr>
          <a:xfrm>
            <a:off x="704850" y="3541894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또는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디렉터리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탐색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AF29F3-F25F-4E00-99F9-EDCEB1D87190}"/>
              </a:ext>
            </a:extLst>
          </p:cNvPr>
          <p:cNvSpPr>
            <a:spLocks noGrp="1"/>
          </p:cNvSpPr>
          <p:nvPr/>
        </p:nvSpPr>
        <p:spPr>
          <a:xfrm>
            <a:off x="261937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9BA014-F71E-4FBF-BB51-4C2737B5A99F}"/>
              </a:ext>
            </a:extLst>
          </p:cNvPr>
          <p:cNvSpPr>
            <a:spLocks noGrp="1"/>
          </p:cNvSpPr>
          <p:nvPr/>
        </p:nvSpPr>
        <p:spPr>
          <a:xfrm>
            <a:off x="2466975" y="261128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Text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Reader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선</a:t>
            </a:r>
            <a:r>
              <a:rPr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2CAEDC-2CE3-4E33-8892-53428AE2CDDB}"/>
              </a:ext>
            </a:extLst>
          </p:cNvPr>
          <p:cNvSpPr>
            <a:spLocks noGrp="1"/>
          </p:cNvSpPr>
          <p:nvPr/>
        </p:nvSpPr>
        <p:spPr>
          <a:xfrm>
            <a:off x="2590800" y="3608569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확장자별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본문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추출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1F0519-967C-4702-B52D-8D0D22E99089}"/>
              </a:ext>
            </a:extLst>
          </p:cNvPr>
          <p:cNvSpPr>
            <a:spLocks noGrp="1"/>
          </p:cNvSpPr>
          <p:nvPr/>
        </p:nvSpPr>
        <p:spPr>
          <a:xfrm>
            <a:off x="451485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113B82-B9BB-415C-8C57-F5716A21099E}"/>
              </a:ext>
            </a:extLst>
          </p:cNvPr>
          <p:cNvSpPr>
            <a:spLocks noGrp="1"/>
          </p:cNvSpPr>
          <p:nvPr/>
        </p:nvSpPr>
        <p:spPr>
          <a:xfrm>
            <a:off x="4400550" y="2586990"/>
            <a:ext cx="14478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Tokenizer</a:t>
            </a: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토큰화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EFB1F1-28F6-4921-BF94-B38AC50AD03E}"/>
              </a:ext>
            </a:extLst>
          </p:cNvPr>
          <p:cNvSpPr>
            <a:spLocks noGrp="1"/>
          </p:cNvSpPr>
          <p:nvPr/>
        </p:nvSpPr>
        <p:spPr>
          <a:xfrm>
            <a:off x="4450556" y="3617694"/>
            <a:ext cx="1557338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텍스트를 단어로</a:t>
            </a:r>
            <a:endParaRPr lang="en-US" altLang="ko-KR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분리</a:t>
            </a:r>
            <a:r>
              <a:rPr lang="en-US" altLang="ko-KR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정규화</a:t>
            </a:r>
            <a:endParaRPr lang="en-US" altLang="ko-KR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05AE5C-AB29-4ACF-B1E8-333F898842B9}"/>
              </a:ext>
            </a:extLst>
          </p:cNvPr>
          <p:cNvSpPr>
            <a:spLocks noGrp="1"/>
          </p:cNvSpPr>
          <p:nvPr/>
        </p:nvSpPr>
        <p:spPr>
          <a:xfrm>
            <a:off x="641032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04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6394E2-F6D7-42BA-89BF-2B53486FC764}"/>
              </a:ext>
            </a:extLst>
          </p:cNvPr>
          <p:cNvSpPr>
            <a:spLocks noGrp="1"/>
          </p:cNvSpPr>
          <p:nvPr/>
        </p:nvSpPr>
        <p:spPr>
          <a:xfrm>
            <a:off x="6410325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빈도 </a:t>
            </a: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집계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67D063-FFD1-406C-A0AF-68084C3CE6AD}"/>
              </a:ext>
            </a:extLst>
          </p:cNvPr>
          <p:cNvSpPr>
            <a:spLocks noGrp="1"/>
          </p:cNvSpPr>
          <p:nvPr/>
        </p:nvSpPr>
        <p:spPr>
          <a:xfrm>
            <a:off x="6331744" y="3612153"/>
            <a:ext cx="1447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Map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으로 단어별</a:t>
            </a:r>
            <a:endParaRPr lang="en-US" altLang="ko-KR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횟수 집계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E7781C-7219-4FDB-8DE9-A64FBC597DA7}"/>
              </a:ext>
            </a:extLst>
          </p:cNvPr>
          <p:cNvSpPr>
            <a:spLocks noGrp="1"/>
          </p:cNvSpPr>
          <p:nvPr/>
        </p:nvSpPr>
        <p:spPr>
          <a:xfrm>
            <a:off x="8305800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F569A9-AD4A-4D55-A9C4-591BB29DC846}"/>
              </a:ext>
            </a:extLst>
          </p:cNvPr>
          <p:cNvSpPr>
            <a:spLocks noGrp="1"/>
          </p:cNvSpPr>
          <p:nvPr/>
        </p:nvSpPr>
        <p:spPr>
          <a:xfrm>
            <a:off x="8305800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전체</a:t>
            </a:r>
            <a:r>
              <a:rPr 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endParaRPr lang="en-US" altLang="ko-KR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합산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1A5C18B-98FD-4EFC-AD77-8CA4FB284C07}"/>
              </a:ext>
            </a:extLst>
          </p:cNvPr>
          <p:cNvSpPr>
            <a:spLocks noGrp="1"/>
          </p:cNvSpPr>
          <p:nvPr/>
        </p:nvSpPr>
        <p:spPr>
          <a:xfrm>
            <a:off x="8286750" y="3613331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처리에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한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결과만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반영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C59B7F-4CFA-4DBD-826D-3B1333B959A1}"/>
              </a:ext>
            </a:extLst>
          </p:cNvPr>
          <p:cNvSpPr>
            <a:spLocks noGrp="1"/>
          </p:cNvSpPr>
          <p:nvPr/>
        </p:nvSpPr>
        <p:spPr>
          <a:xfrm>
            <a:off x="10201275" y="2128062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06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C9A4AF-D4A3-49E6-815C-1AC0D13692DE}"/>
              </a:ext>
            </a:extLst>
          </p:cNvPr>
          <p:cNvSpPr>
            <a:spLocks noGrp="1"/>
          </p:cNvSpPr>
          <p:nvPr/>
        </p:nvSpPr>
        <p:spPr>
          <a:xfrm>
            <a:off x="10201275" y="2635143"/>
            <a:ext cx="12954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</a:t>
            </a:r>
            <a:endParaRPr lang="en-US"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65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조회·저장</a:t>
            </a:r>
            <a:endParaRPr sz="2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FB2BD6A-903A-4DCC-8F85-FA6F9347DCD6}"/>
              </a:ext>
            </a:extLst>
          </p:cNvPr>
          <p:cNvSpPr>
            <a:spLocks noGrp="1"/>
          </p:cNvSpPr>
          <p:nvPr/>
        </p:nvSpPr>
        <p:spPr>
          <a:xfrm>
            <a:off x="9958387" y="3589520"/>
            <a:ext cx="17811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상위·특정</a:t>
            </a:r>
            <a:endParaRPr lang="en-US" sz="15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</a:t>
            </a: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5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조회</a:t>
            </a: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와</a:t>
            </a:r>
            <a:endParaRPr lang="en-US"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>
              <a:defRPr sz="1125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TSV</a:t>
            </a:r>
            <a:r>
              <a:rPr 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50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저장</a:t>
            </a:r>
            <a:endParaRPr sz="15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A572DE-3362-8577-D6A5-8CEB9BB9722D}"/>
              </a:ext>
            </a:extLst>
          </p:cNvPr>
          <p:cNvSpPr txBox="1"/>
          <p:nvPr/>
        </p:nvSpPr>
        <p:spPr>
          <a:xfrm>
            <a:off x="1597720" y="5179094"/>
            <a:ext cx="9015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읽기와 단어 토큰화를 분리하고, 파일별 집계 결과를 전체 결과로 합산</a:t>
            </a:r>
            <a:endParaRPr lang="ko-KR" altLang="en-US" sz="24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4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BDD4-103C-B62A-EB37-6330B7DB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DDFFF2C-DE29-D9D3-1743-6664A5F8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27" y="150380"/>
            <a:ext cx="9272523" cy="655724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65FF9029-4DA8-54F5-A09C-1DC4307C01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8454F-E32D-6CAF-12F9-1C34458D5B67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주요 클래스와 역할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DCEAED-1FEE-4744-944D-4DE5C1F144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E7BE63-D9B0-4AE6-A3C8-C7232CD0D63C}"/>
              </a:ext>
            </a:extLst>
          </p:cNvPr>
          <p:cNvSpPr>
            <a:spLocks noGrp="1"/>
          </p:cNvSpPr>
          <p:nvPr/>
        </p:nvSpPr>
        <p:spPr>
          <a:xfrm>
            <a:off x="2574761" y="21727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B9B76-C3A2-49D5-ADE5-D30BF79B18DA}"/>
              </a:ext>
            </a:extLst>
          </p:cNvPr>
          <p:cNvSpPr>
            <a:spLocks noGrp="1"/>
          </p:cNvSpPr>
          <p:nvPr/>
        </p:nvSpPr>
        <p:spPr>
          <a:xfrm>
            <a:off x="3317711" y="2247906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분석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B6D26C-E740-4C6C-9717-23A139F391A0}"/>
              </a:ext>
            </a:extLst>
          </p:cNvPr>
          <p:cNvSpPr>
            <a:spLocks noGrp="1"/>
          </p:cNvSpPr>
          <p:nvPr/>
        </p:nvSpPr>
        <p:spPr>
          <a:xfrm>
            <a:off x="5917033" y="221381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samples/equivalent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C26AFA-DFEC-4113-A228-C0B83042FC4E}"/>
              </a:ext>
            </a:extLst>
          </p:cNvPr>
          <p:cNvSpPr>
            <a:spLocks noGrp="1"/>
          </p:cNvSpPr>
          <p:nvPr/>
        </p:nvSpPr>
        <p:spPr>
          <a:xfrm>
            <a:off x="2574761" y="31633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9E945C-4D2A-4398-BBA8-029D6D93732E}"/>
              </a:ext>
            </a:extLst>
          </p:cNvPr>
          <p:cNvSpPr>
            <a:spLocks noGrp="1"/>
          </p:cNvSpPr>
          <p:nvPr/>
        </p:nvSpPr>
        <p:spPr>
          <a:xfrm>
            <a:off x="3317711" y="32044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 조회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A72BB3-8F78-48A5-B37B-EA91111B676B}"/>
              </a:ext>
            </a:extLst>
          </p:cNvPr>
          <p:cNvSpPr>
            <a:spLocks noGrp="1"/>
          </p:cNvSpPr>
          <p:nvPr/>
        </p:nvSpPr>
        <p:spPr>
          <a:xfrm>
            <a:off x="5917033" y="320441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news-1000.csv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ECF00C-B597-4DA1-94D2-3AC671C30379}"/>
              </a:ext>
            </a:extLst>
          </p:cNvPr>
          <p:cNvSpPr>
            <a:spLocks noGrp="1"/>
          </p:cNvSpPr>
          <p:nvPr/>
        </p:nvSpPr>
        <p:spPr>
          <a:xfrm>
            <a:off x="2574761" y="41539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F8A5F4-AC90-4483-9596-59B43358EB82}"/>
              </a:ext>
            </a:extLst>
          </p:cNvPr>
          <p:cNvSpPr>
            <a:spLocks noGrp="1"/>
          </p:cNvSpPr>
          <p:nvPr/>
        </p:nvSpPr>
        <p:spPr>
          <a:xfrm>
            <a:off x="3317711" y="41950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결과 저장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9D3B27-5989-4043-B781-B035B4E3EF93}"/>
              </a:ext>
            </a:extLst>
          </p:cNvPr>
          <p:cNvSpPr>
            <a:spLocks noGrp="1"/>
          </p:cNvSpPr>
          <p:nvPr/>
        </p:nvSpPr>
        <p:spPr>
          <a:xfrm>
            <a:off x="2574761" y="5144505"/>
            <a:ext cx="495300" cy="4953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CB61D2-2ED0-4AA7-A8C2-99031B4A79D0}"/>
              </a:ext>
            </a:extLst>
          </p:cNvPr>
          <p:cNvSpPr>
            <a:spLocks noGrp="1"/>
          </p:cNvSpPr>
          <p:nvPr/>
        </p:nvSpPr>
        <p:spPr>
          <a:xfrm>
            <a:off x="3317711" y="518561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오류 처리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A1E552-A4BC-4921-B549-DA9F2D3520CB}"/>
              </a:ext>
            </a:extLst>
          </p:cNvPr>
          <p:cNvSpPr>
            <a:spLocks noGrp="1"/>
          </p:cNvSpPr>
          <p:nvPr/>
        </p:nvSpPr>
        <p:spPr>
          <a:xfrm>
            <a:off x="5917033" y="420454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out/</a:t>
            </a:r>
            <a:r>
              <a:rPr sz="2400" b="1" dirty="0" err="1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counts.tsv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3D44D2-DF53-172B-F4B1-E18D5D29B707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기본 기능 시연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8B7B37-DC03-DE63-63AE-58FF35580359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다양한 파일 형식의 단어 집계부터 결과 조회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오류 처리까지 확인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898BD4-6E0B-F2DD-7C90-2701E853BD32}"/>
              </a:ext>
            </a:extLst>
          </p:cNvPr>
          <p:cNvSpPr>
            <a:spLocks noGrp="1"/>
          </p:cNvSpPr>
          <p:nvPr/>
        </p:nvSpPr>
        <p:spPr>
          <a:xfrm>
            <a:off x="5917033" y="5183607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samples/invalid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3039FF-9161-4896-3E09-902D378128D4}"/>
              </a:ext>
            </a:extLst>
          </p:cNvPr>
          <p:cNvSpPr txBox="1"/>
          <p:nvPr/>
        </p:nvSpPr>
        <p:spPr>
          <a:xfrm>
            <a:off x="2310116" y="6024439"/>
            <a:ext cx="721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정상 파일의 결과는 유지하고</a:t>
            </a:r>
            <a:r>
              <a:rPr lang="en-US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실패 파일의 부분 집계는 제외</a:t>
            </a:r>
          </a:p>
        </p:txBody>
      </p:sp>
    </p:spTree>
    <p:extLst>
      <p:ext uri="{BB962C8B-B14F-4D97-AF65-F5344CB8AC3E}">
        <p14:creationId xmlns:p14="http://schemas.microsoft.com/office/powerpoint/2010/main" val="154978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320B-FD9E-444C-B34C-E63AEFA53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FAB660-C827-488F-8595-6563E5EB83AD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성능 개선</a:t>
            </a:r>
            <a:r>
              <a:rPr lang="en-US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</a:t>
            </a:r>
            <a:r>
              <a:rPr lang="ko-KR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문자 순회 기반 </a:t>
            </a:r>
            <a:r>
              <a:rPr lang="ko-KR" altLang="ko-KR" sz="3000" b="1" dirty="0" err="1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토크나이저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685EB9-6676-4AE2-AD10-2D08252686B2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정규식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기반 </a:t>
            </a: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RegexTokenizer를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문자 단위로 순회하는 </a:t>
            </a:r>
            <a:r>
              <a:rPr lang="ko-KR" altLang="ko-KR" sz="200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SimpleTokenizer로</a:t>
            </a: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변경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1" name="Chart"/>
          <p:cNvGraphicFramePr/>
          <p:nvPr>
            <p:extLst>
              <p:ext uri="{D42A27DB-BD31-4B8C-83A1-F6EECF244321}">
                <p14:modId xmlns:p14="http://schemas.microsoft.com/office/powerpoint/2010/main" val="1975261018"/>
              </p:ext>
            </p:extLst>
          </p:nvPr>
        </p:nvGraphicFramePr>
        <p:xfrm>
          <a:off x="704850" y="2247900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65B4793-9C94-41D5-A725-E60F54EFFF79}"/>
              </a:ext>
            </a:extLst>
          </p:cNvPr>
          <p:cNvSpPr>
            <a:spLocks noGrp="1"/>
          </p:cNvSpPr>
          <p:nvPr/>
        </p:nvSpPr>
        <p:spPr>
          <a:xfrm>
            <a:off x="8477250" y="2756947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44%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B039BB-D576-46F3-B641-BCD563675361}"/>
              </a:ext>
            </a:extLst>
          </p:cNvPr>
          <p:cNvSpPr>
            <a:spLocks noGrp="1"/>
          </p:cNvSpPr>
          <p:nvPr/>
        </p:nvSpPr>
        <p:spPr>
          <a:xfrm>
            <a:off x="8477250" y="330939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27.3MB </a:t>
            </a:r>
            <a:r>
              <a:rPr lang="ko-KR" altLang="en-US"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처리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감소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DC88DF-BC51-4A02-A9AD-D26D8849FEF9}"/>
              </a:ext>
            </a:extLst>
          </p:cNvPr>
          <p:cNvSpPr>
            <a:spLocks noGrp="1"/>
          </p:cNvSpPr>
          <p:nvPr/>
        </p:nvSpPr>
        <p:spPr>
          <a:xfrm>
            <a:off x="8477250" y="4090447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37B5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37B5C8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43%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65CBD-7FA7-497D-9147-E13D7E3FF18A}"/>
              </a:ext>
            </a:extLst>
          </p:cNvPr>
          <p:cNvSpPr>
            <a:spLocks noGrp="1"/>
          </p:cNvSpPr>
          <p:nvPr/>
        </p:nvSpPr>
        <p:spPr>
          <a:xfrm>
            <a:off x="8477250" y="464289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208MB 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처리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시간</a:t>
            </a: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sz="1350" b="0" dirty="0" err="1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감소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380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7365D7-7E95-4B84-A3E3-489DA1658D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FD4DDF-CD40-44DA-A1BB-FB14EA04B55E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 처리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44063B-DD09-4B05-B346-4FEA04CF0873}"/>
              </a:ext>
            </a:extLst>
          </p:cNvPr>
          <p:cNvSpPr>
            <a:spLocks noGrp="1"/>
          </p:cNvSpPr>
          <p:nvPr/>
        </p:nvSpPr>
        <p:spPr>
          <a:xfrm>
            <a:off x="585119" y="139581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풀에서 파일별 단어 빈도를 병렬 집계한 뒤, 집계 결과를 순차 합산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3223468522"/>
              </p:ext>
            </p:extLst>
          </p:nvPr>
        </p:nvGraphicFramePr>
        <p:xfrm>
          <a:off x="525213" y="1800878"/>
          <a:ext cx="5314950" cy="4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224FBE-E266-4334-AA23-529928E0799C}"/>
              </a:ext>
            </a:extLst>
          </p:cNvPr>
          <p:cNvSpPr>
            <a:spLocks noGrp="1"/>
          </p:cNvSpPr>
          <p:nvPr/>
        </p:nvSpPr>
        <p:spPr>
          <a:xfrm>
            <a:off x="6351838" y="3429000"/>
            <a:ext cx="6048866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큰 입력에서 더 높은 병렬 성능 향상 확인</a:t>
            </a:r>
            <a:endParaRPr lang="en-US" altLang="ko-KR" sz="22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읽기와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토큰화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비용의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비중이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커져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효율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b="1" dirty="0" err="1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증가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4AB8BB-43D7-06F7-A9FB-0D8F9EA48598}"/>
              </a:ext>
            </a:extLst>
          </p:cNvPr>
          <p:cNvSpPr>
            <a:spLocks noGrp="1"/>
          </p:cNvSpPr>
          <p:nvPr/>
        </p:nvSpPr>
        <p:spPr>
          <a:xfrm>
            <a:off x="6455945" y="2215091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5.88</a:t>
            </a:r>
            <a:r>
              <a:rPr lang="ko-KR" altLang="en-US" sz="30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</a:t>
            </a:r>
            <a:endParaRPr sz="30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547E7C-BD9A-B531-CA82-6B3D883F828B}"/>
              </a:ext>
            </a:extLst>
          </p:cNvPr>
          <p:cNvSpPr>
            <a:spLocks noGrp="1"/>
          </p:cNvSpPr>
          <p:nvPr/>
        </p:nvSpPr>
        <p:spPr>
          <a:xfrm>
            <a:off x="6455945" y="2816407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208MB 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 </a:t>
            </a:r>
            <a:r>
              <a:rPr lang="en-US" altLang="ko-KR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16</a:t>
            </a:r>
            <a:r>
              <a:rPr lang="ko-KR" altLang="en-US" sz="135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</a:t>
            </a:r>
            <a:endParaRPr sz="135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66E737-6A2E-B77B-ECB2-07EF306E7C26}"/>
              </a:ext>
            </a:extLst>
          </p:cNvPr>
          <p:cNvSpPr>
            <a:spLocks noGrp="1"/>
          </p:cNvSpPr>
          <p:nvPr/>
        </p:nvSpPr>
        <p:spPr>
          <a:xfrm>
            <a:off x="6351838" y="4622229"/>
            <a:ext cx="6048866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수에 비례하는 성능 향상에는 도달하지 못함</a:t>
            </a: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풀 생성</a:t>
            </a: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작업 제출</a:t>
            </a:r>
            <a:r>
              <a:rPr lang="en-US" altLang="ko-KR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b="1" dirty="0">
                <a:solidFill>
                  <a:schemeClr val="bg2">
                    <a:lumMod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관리와 결과 합산에 따른 고정 비용</a:t>
            </a:r>
          </a:p>
        </p:txBody>
      </p:sp>
    </p:spTree>
    <p:extLst>
      <p:ext uri="{BB962C8B-B14F-4D97-AF65-F5344CB8AC3E}">
        <p14:creationId xmlns:p14="http://schemas.microsoft.com/office/powerpoint/2010/main" val="1551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B2DE-6BE0-9E3B-0B68-B6C82D9D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938A9B-6815-2F10-002B-15E540DA9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B324C5-5856-DD67-3C1E-1AFD37F1440C}"/>
              </a:ext>
            </a:extLst>
          </p:cNvPr>
          <p:cNvSpPr>
            <a:spLocks noGrp="1"/>
          </p:cNvSpPr>
          <p:nvPr/>
        </p:nvSpPr>
        <p:spPr>
          <a:xfrm>
            <a:off x="2908638" y="2488538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입력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563424-39B0-1B2B-E467-D87FAAE42E3A}"/>
              </a:ext>
            </a:extLst>
          </p:cNvPr>
          <p:cNvSpPr>
            <a:spLocks noGrp="1"/>
          </p:cNvSpPr>
          <p:nvPr/>
        </p:nvSpPr>
        <p:spPr>
          <a:xfrm>
            <a:off x="5507959" y="2454447"/>
            <a:ext cx="396089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data/local/perf-64/many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D02636-2E3A-67C3-0FDA-A8AF9BFCAD82}"/>
              </a:ext>
            </a:extLst>
          </p:cNvPr>
          <p:cNvSpPr>
            <a:spLocks noGrp="1"/>
          </p:cNvSpPr>
          <p:nvPr/>
        </p:nvSpPr>
        <p:spPr>
          <a:xfrm>
            <a:off x="2908638" y="3445047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처리방식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F27762-9FC0-0857-A520-1FD5F644728F}"/>
              </a:ext>
            </a:extLst>
          </p:cNvPr>
          <p:cNvSpPr>
            <a:spLocks noGrp="1"/>
          </p:cNvSpPr>
          <p:nvPr/>
        </p:nvSpPr>
        <p:spPr>
          <a:xfrm>
            <a:off x="5507960" y="3445047"/>
            <a:ext cx="3960892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FIXED_THREAD_POOL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65A709-4449-7E3F-1DFF-7B27998E0BA2}"/>
              </a:ext>
            </a:extLst>
          </p:cNvPr>
          <p:cNvSpPr>
            <a:spLocks noGrp="1"/>
          </p:cNvSpPr>
          <p:nvPr/>
        </p:nvSpPr>
        <p:spPr>
          <a:xfrm>
            <a:off x="2908638" y="4435647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 수</a:t>
            </a:r>
            <a:endParaRPr sz="24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020E47-5F30-4A4A-4958-A7509ECB51C8}"/>
              </a:ext>
            </a:extLst>
          </p:cNvPr>
          <p:cNvSpPr>
            <a:spLocks noGrp="1"/>
          </p:cNvSpPr>
          <p:nvPr/>
        </p:nvSpPr>
        <p:spPr>
          <a:xfrm>
            <a:off x="5507960" y="4445172"/>
            <a:ext cx="446622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MAX_THREAD_COUNT:</a:t>
            </a:r>
          </a:p>
          <a:p>
            <a:pPr algn="l">
              <a:defRPr sz="1425" b="1">
                <a:solidFill>
                  <a:srgbClr val="1967D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 → </a:t>
            </a:r>
            <a:r>
              <a:rPr lang="ko-KR" altLang="en-US" sz="2400" b="1" dirty="0">
                <a:solidFill>
                  <a:srgbClr val="1967D2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４</a:t>
            </a:r>
            <a:endParaRPr sz="2400" b="1" dirty="0">
              <a:solidFill>
                <a:srgbClr val="1967D2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AC842F-C36D-A0D8-EF66-260D4E0972D6}"/>
              </a:ext>
            </a:extLst>
          </p:cNvPr>
          <p:cNvSpPr>
            <a:spLocks noGrp="1"/>
          </p:cNvSpPr>
          <p:nvPr/>
        </p:nvSpPr>
        <p:spPr>
          <a:xfrm>
            <a:off x="599388" y="602728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병렬 처리 시연</a:t>
            </a:r>
            <a:endParaRPr sz="3000" b="1" dirty="0">
              <a:solidFill>
                <a:srgbClr val="13263D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BFCFA4-1C6D-71A5-C5E2-288BEEC1D6A5}"/>
              </a:ext>
            </a:extLst>
          </p:cNvPr>
          <p:cNvSpPr>
            <a:spLocks noGrp="1"/>
          </p:cNvSpPr>
          <p:nvPr/>
        </p:nvSpPr>
        <p:spPr>
          <a:xfrm>
            <a:off x="599388" y="1333501"/>
            <a:ext cx="10668000" cy="5524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16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 파일을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1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스레드와 ４스레드로 분석하여 처리 시간과 결과 비교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BE96B-1ADE-C94E-0036-79C259A20BAF}"/>
              </a:ext>
            </a:extLst>
          </p:cNvPr>
          <p:cNvSpPr txBox="1"/>
          <p:nvPr/>
        </p:nvSpPr>
        <p:spPr>
          <a:xfrm>
            <a:off x="2489083" y="5793607"/>
            <a:ext cx="721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 독립 집계로 병렬 처리하고</a:t>
            </a:r>
            <a:r>
              <a:rPr lang="en-US" altLang="ko-KR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성공한 결과만 순차 합산</a:t>
            </a:r>
          </a:p>
        </p:txBody>
      </p:sp>
    </p:spTree>
    <p:extLst>
      <p:ext uri="{BB962C8B-B14F-4D97-AF65-F5344CB8AC3E}">
        <p14:creationId xmlns:p14="http://schemas.microsoft.com/office/powerpoint/2010/main" val="240545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D2D2E7-CCA0-49A9-A5A0-D1BA22EB92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3DEC63-A476-3C74-A85F-1FD15B61EF9C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DB </a:t>
            </a: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 방식 최적화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FA1C94D-8ACF-2015-A4E6-9F6EF24FD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310" y="264694"/>
            <a:ext cx="3052184" cy="632861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1304F7-EDD7-87F5-2768-8B0ADFA9D68C}"/>
              </a:ext>
            </a:extLst>
          </p:cNvPr>
          <p:cNvSpPr>
            <a:spLocks noGrp="1"/>
          </p:cNvSpPr>
          <p:nvPr/>
        </p:nvSpPr>
        <p:spPr>
          <a:xfrm>
            <a:off x="585119" y="151613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단어별 집계 결과를 메모리 대신 </a:t>
            </a:r>
            <a:r>
              <a:rPr lang="en-US" altLang="ko-KR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DB</a:t>
            </a: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에 저장하고</a:t>
            </a:r>
            <a:endParaRPr lang="en-US" altLang="ko-KR" sz="20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저장 방식을 단계적으로 최적화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AC2EE-9632-BFEF-3B83-E6AF085EC449}"/>
              </a:ext>
            </a:extLst>
          </p:cNvPr>
          <p:cNvSpPr>
            <a:spLocks noGrp="1"/>
          </p:cNvSpPr>
          <p:nvPr/>
        </p:nvSpPr>
        <p:spPr>
          <a:xfrm>
            <a:off x="1579109" y="3063689"/>
            <a:ext cx="6213465" cy="10294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SQL 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왕복</a:t>
            </a: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·</a:t>
            </a:r>
            <a:r>
              <a:rPr lang="ko-KR" altLang="en-US" sz="22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커밋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횟수와 저장할 데이터 수를</a:t>
            </a:r>
            <a:endParaRPr lang="en-US" altLang="ko-KR" sz="22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lnSpc>
                <a:spcPct val="150000"/>
              </a:lnSpc>
              <a:defRPr sz="1575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줄여</a:t>
            </a:r>
            <a:r>
              <a:rPr lang="en-US" altLang="ko-KR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처리 시간 단축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28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B881-F6F4-FFDF-BD8D-533BC502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EE5C7C-DD56-26E1-A353-F2047CEFA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162" y="307867"/>
            <a:ext cx="7276957" cy="62422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263E57-4C6E-E017-D9B0-3B6FA87B9A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67D2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50CC9A-147E-AF53-5ACE-D1F71DEB7838}"/>
              </a:ext>
            </a:extLst>
          </p:cNvPr>
          <p:cNvSpPr>
            <a:spLocks noGrp="1"/>
          </p:cNvSpPr>
          <p:nvPr/>
        </p:nvSpPr>
        <p:spPr>
          <a:xfrm>
            <a:off x="599388" y="615735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000" b="1">
                <a:solidFill>
                  <a:srgbClr val="13263D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 dirty="0">
                <a:solidFill>
                  <a:srgbClr val="13263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체크포인트 저장과 중단 후 재개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0A9AE7-841B-985A-C4C6-6B24C3C89445}"/>
              </a:ext>
            </a:extLst>
          </p:cNvPr>
          <p:cNvSpPr>
            <a:spLocks noGrp="1"/>
          </p:cNvSpPr>
          <p:nvPr/>
        </p:nvSpPr>
        <p:spPr>
          <a:xfrm>
            <a:off x="585119" y="1516134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파일별 집계 결과를 저장하고</a:t>
            </a:r>
            <a:endParaRPr lang="en-US" altLang="ko-KR" sz="200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>
              <a:defRPr sz="1500" b="0">
                <a:solidFill>
                  <a:srgbClr val="627083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627083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재실행 시 유효한 체크포인트를 복원하여 중복 분석 방지</a:t>
            </a:r>
            <a:endParaRPr sz="2000" b="0" dirty="0">
              <a:solidFill>
                <a:srgbClr val="627083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0952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344</Words>
  <Application>Microsoft Office PowerPoint</Application>
  <DocSecurity>0</DocSecurity>
  <PresentationFormat>와이드스크린</PresentationFormat>
  <Paragraphs>88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 Variable</vt:lpstr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상호 박</cp:lastModifiedBy>
  <cp:revision>7</cp:revision>
  <dcterms:created xsi:type="dcterms:W3CDTF">2026-09-30T15:22:31Z</dcterms:created>
  <dcterms:modified xsi:type="dcterms:W3CDTF">2026-10-01T07:34:51Z</dcterms:modified>
</cp:coreProperties>
</file>